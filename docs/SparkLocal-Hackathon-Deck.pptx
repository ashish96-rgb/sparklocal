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8C8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5773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C65A42"/>
          </a:solidFill>
          <a:ln w="12700">
            <a:solidFill>
              <a:srgbClr val="C65A4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6840" y="960120"/>
            <a:ext cx="1965960" cy="1965960"/>
          </a:xfrm>
          <a:prstGeom prst="ellipse">
            <a:avLst/>
          </a:prstGeom>
          <a:solidFill>
            <a:srgbClr val="E8BA53"/>
          </a:solidFill>
          <a:ln w="12700">
            <a:solidFill>
              <a:srgbClr val="E8BA5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73184" y="1152144"/>
            <a:ext cx="1033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548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D8C8"/>
                </a:solidFill>
              </a:rPr>
              <a:t>HACKATHON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ideas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local.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2E9DF"/>
                </a:solidFill>
              </a:rPr>
              <a:t>A community action studio powered by open-weight Gemma.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87968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SparkLocal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82396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EFA"/>
                </a:solidFill>
              </a:rPr>
              <a:t>Neighbors shape what comes next.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6A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DE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</a:rPr>
              <a:t>THE GAP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problems are clear. A first step often is not.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3429000" cy="2057400"/>
          </a:xfrm>
          <a:prstGeom prst="rect">
            <a:avLst/>
          </a:prstGeom>
          <a:solidFill>
            <a:srgbClr val="FFFEFA"/>
          </a:solidFill>
          <a:ln w="12700">
            <a:solidFill>
              <a:srgbClr val="DED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44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5A42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intentions stall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46A"/>
                </a:solidFill>
              </a:rPr>
              <a:t>A concern is hard to turn into a small, realistic action.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8848" y="2834640"/>
            <a:ext cx="3429000" cy="2057400"/>
          </a:xfrm>
          <a:prstGeom prst="rect">
            <a:avLst/>
          </a:prstGeom>
          <a:solidFill>
            <a:srgbClr val="FFFEFA"/>
          </a:solidFill>
          <a:ln w="12700">
            <a:solidFill>
              <a:srgbClr val="DED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3044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5A42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Roles stay fuzzy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81728" y="39776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46A"/>
                </a:solidFill>
              </a:rPr>
              <a:t>People want to help but do not know what to take 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66176" y="2834640"/>
            <a:ext cx="3429000" cy="2057400"/>
          </a:xfrm>
          <a:prstGeom prst="rect">
            <a:avLst/>
          </a:prstGeom>
          <a:solidFill>
            <a:srgbClr val="FFFEFA"/>
          </a:solidFill>
          <a:ln w="12700">
            <a:solidFill>
              <a:srgbClr val="DED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3044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5A42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9056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gets lost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49056" y="39776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46A"/>
                </a:solidFill>
              </a:rPr>
              <a:t>Communities need a simple way to share progress and adapt.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D43"/>
                </a:solidFill>
              </a:rPr>
              <a:t>SparkLocal makes the early work visible and shareable.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8C8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5773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A53"/>
                </a:solidFill>
              </a:rPr>
              <a:t>FROM CONCERN TO COLLABORATION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local challenge. A plan the community can shape.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475488" cy="475488"/>
          </a:xfrm>
          <a:prstGeom prst="ellipse">
            <a:avLst/>
          </a:prstGeom>
          <a:solidFill>
            <a:srgbClr val="254833"/>
          </a:solidFill>
          <a:ln w="19050">
            <a:solidFill>
              <a:srgbClr val="A9C0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A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3438144"/>
            <a:ext cx="2148840" cy="0"/>
          </a:xfrm>
          <a:prstGeom prst="line">
            <a:avLst/>
          </a:prstGeom>
          <a:noFill/>
          <a:ln w="15240">
            <a:solidFill>
              <a:srgbClr val="78937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" y="3950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44398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E0D3"/>
                </a:solidFill>
              </a:rPr>
              <a:t>Challenge, time, resources, people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3200400"/>
            <a:ext cx="475488" cy="475488"/>
          </a:xfrm>
          <a:prstGeom prst="ellipse">
            <a:avLst/>
          </a:prstGeom>
          <a:solidFill>
            <a:srgbClr val="E8BA53"/>
          </a:solidFill>
          <a:ln w="19050">
            <a:solidFill>
              <a:srgbClr val="E8BA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4833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9080" y="3438144"/>
            <a:ext cx="2148840" cy="0"/>
          </a:xfrm>
          <a:prstGeom prst="line">
            <a:avLst/>
          </a:prstGeom>
          <a:noFill/>
          <a:ln w="15240">
            <a:solidFill>
              <a:srgbClr val="78937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566160" y="3950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with Gemma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444398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E0D3"/>
                </a:solidFill>
              </a:rPr>
              <a:t>Actions, roles, supplies, outcomes, risks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475488" cy="475488"/>
          </a:xfrm>
          <a:prstGeom prst="ellipse">
            <a:avLst/>
          </a:prstGeom>
          <a:solidFill>
            <a:srgbClr val="254833"/>
          </a:solidFill>
          <a:ln w="19050">
            <a:solidFill>
              <a:srgbClr val="A9C0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A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438144"/>
            <a:ext cx="2148840" cy="0"/>
          </a:xfrm>
          <a:prstGeom prst="line">
            <a:avLst/>
          </a:prstGeom>
          <a:noFill/>
          <a:ln w="15240">
            <a:solidFill>
              <a:srgbClr val="78937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00800" y="3950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444398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E0D3"/>
                </a:solidFill>
              </a:rPr>
              <a:t>Publish an open community brief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3200400"/>
            <a:ext cx="475488" cy="475488"/>
          </a:xfrm>
          <a:prstGeom prst="ellipse">
            <a:avLst/>
          </a:prstGeom>
          <a:solidFill>
            <a:srgbClr val="254833"/>
          </a:solidFill>
          <a:ln w="19050">
            <a:solidFill>
              <a:srgbClr val="A9C0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3284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EFA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35440" y="3950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 &amp; learn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444398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6E0D3"/>
                </a:solidFill>
              </a:rPr>
              <a:t>Build participation and adapt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5321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A53"/>
                </a:solidFill>
              </a:rPr>
              <a:t>The AI offers a starting point. Neighbors decide what happens.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6A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DE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</a:rPr>
              <a:t>GEMMA IS CENTRAL TO THE PRODUCT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Open-weight AI turns context into an actionable draft.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64922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02820"/>
                </a:solidFill>
              </a:rPr>
              <a:t>Structures a local challenge into steps, volunteer roles, supplies, impact measures, and risks.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02820"/>
                </a:solidFill>
              </a:rPr>
              <a:t>Local Ollama path gives teams control over where inference runs.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02820"/>
                </a:solidFill>
              </a:rPr>
              <a:t>Hugging Face path offers hosted Gemma inference with server-side credentials.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202820"/>
                </a:solidFill>
              </a:rPr>
              <a:t>A clearly labeled demo mode keeps the experience testable without pretending to be live AI.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09560" y="2514600"/>
            <a:ext cx="3200400" cy="2468880"/>
          </a:xfrm>
          <a:prstGeom prst="rect">
            <a:avLst/>
          </a:prstGeom>
          <a:solidFill>
            <a:srgbClr val="254833"/>
          </a:solidFill>
          <a:ln w="12700">
            <a:solidFill>
              <a:srgbClr val="DE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299923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WEIGHTS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CHOICE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REVIEW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D746A"/>
                </a:solidFill>
              </a:rPr>
              <a:t>Model weights are separate and follow Gemma terms.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6A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DE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</a:rPr>
              <a:t>WHY OPEN INNOVATION MATTERS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knowledge is distributed. So should the tools be.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1325880" cy="384048"/>
          </a:xfrm>
          <a:prstGeom prst="rect">
            <a:avLst/>
          </a:prstGeom>
          <a:solidFill>
            <a:srgbClr val="E4EDE3"/>
          </a:solidFill>
          <a:ln w="12700">
            <a:solidFill>
              <a:srgbClr val="E4EDE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32888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5D43"/>
                </a:solidFill>
              </a:rPr>
              <a:t>INSPECT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24231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820"/>
                </a:solidFill>
              </a:rPr>
              <a:t>See how the planner and board work.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18688"/>
            <a:ext cx="1325880" cy="384048"/>
          </a:xfrm>
          <a:prstGeom prst="rect">
            <a:avLst/>
          </a:prstGeom>
          <a:solidFill>
            <a:srgbClr val="E4EDE3"/>
          </a:solidFill>
          <a:ln w="12700">
            <a:solidFill>
              <a:srgbClr val="E4EDE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10128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5D43"/>
                </a:solidFill>
              </a:rPr>
              <a:t>ADAPT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820"/>
                </a:solidFill>
              </a:rPr>
              <a:t>Change prompts and workflows to fit a place.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995928"/>
            <a:ext cx="1325880" cy="384048"/>
          </a:xfrm>
          <a:prstGeom prst="rect">
            <a:avLst/>
          </a:prstGeom>
          <a:solidFill>
            <a:srgbClr val="E4EDE3"/>
          </a:solidFill>
          <a:ln w="12700">
            <a:solidFill>
              <a:srgbClr val="E4EDE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87368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5D43"/>
                </a:solidFill>
              </a:rPr>
              <a:t>CONTRIBUTE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397764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820"/>
                </a:solidFill>
              </a:rPr>
              <a:t>Bring local experience, skills, tests, and translations.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773168"/>
            <a:ext cx="1325880" cy="384048"/>
          </a:xfrm>
          <a:prstGeom prst="rect">
            <a:avLst/>
          </a:prstGeom>
          <a:solidFill>
            <a:srgbClr val="E4EDE3"/>
          </a:solidFill>
          <a:ln w="12700">
            <a:solidFill>
              <a:srgbClr val="E4EDE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64608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55D43"/>
                </a:solidFill>
              </a:rPr>
              <a:t>OWN THE CHOICE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4754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820"/>
                </a:solidFill>
              </a:rPr>
              <a:t>Run open-weight Gemma on infrastructure you control.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A42"/>
                </a:solidFill>
              </a:rPr>
              <a:t>Open innovation invites shared ownership; it does not remove responsibility.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8C8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5773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A53"/>
                </a:solidFill>
              </a:rPr>
              <a:t>REAL-WORLD VALUE, WITH GUARDRAILS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small. Measure what matters. Keep people in charge.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66294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FFFEFA"/>
                </a:solidFill>
              </a:rPr>
              <a:t>Grounded first steps for shared neighborhood challenges.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FFFEFA"/>
                </a:solidFill>
              </a:rPr>
              <a:t>Simple measures help groups learn and decide what to try next.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FFFEFA"/>
                </a:solidFill>
              </a:rPr>
              <a:t>Prompt for context, not personal data; avoid invented services or statistics.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FFFEFA"/>
                </a:solidFill>
              </a:rPr>
              <a:t>Community review is essential. AI is not professional or emergency advice.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75320" y="2926080"/>
            <a:ext cx="2560320" cy="1965960"/>
          </a:xfrm>
          <a:prstGeom prst="rect">
            <a:avLst/>
          </a:prstGeom>
          <a:solidFill>
            <a:srgbClr val="C65A42"/>
          </a:solidFill>
          <a:ln w="12700">
            <a:solidFill>
              <a:srgbClr val="C65A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326440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STEPS</a:t>
            </a:r>
            <a:endParaRPr lang="en-US" sz="2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746A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DE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5D43"/>
                </a:solidFill>
              </a:rPr>
              <a:t>BUILT TO WORK TOGETHER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usable project, an open invitation to contribute.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5A42"/>
                </a:solidFill>
              </a:rPr>
              <a:t>TRY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273552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planner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community board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Search, filters, join, support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5A42"/>
                </a:solidFill>
              </a:rPr>
              <a:t>BUILD ON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3273552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licensed source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and deployment guide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 guide and conduct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7532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5A42"/>
                </a:solidFill>
              </a:rPr>
              <a:t>SHOW THE 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75320" y="3273552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 demo video script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PowerPoint deck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02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smoke tests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530352"/>
          </a:xfrm>
          <a:prstGeom prst="rect">
            <a:avLst/>
          </a:prstGeom>
          <a:solidFill>
            <a:srgbClr val="E4EDE3"/>
          </a:solidFill>
          <a:ln w="12700">
            <a:solidFill>
              <a:srgbClr val="E4EDE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41324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4833"/>
                </a:solidFill>
              </a:rPr>
              <a:t>Open source is an invitation: improve it, localize it, and share what your community learns.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4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8C8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36792"/>
            <a:ext cx="11064240" cy="0"/>
          </a:xfrm>
          <a:prstGeom prst="line">
            <a:avLst/>
          </a:prstGeom>
          <a:noFill/>
          <a:ln w="8890">
            <a:solidFill>
              <a:srgbClr val="5773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A53"/>
                </a:solidFill>
              </a:rPr>
              <a:t>MAKE THE NEXT STEP POSSIBLE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local concern can become a shared project.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SparkLocal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FE8DD"/>
                </a:solidFill>
              </a:rPr>
              <a:t>GitHub repository: add your published repository URL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FE8DD"/>
                </a:solidFill>
              </a:rPr>
              <a:t>Live app: add your verified deployment URL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FE8DD"/>
                </a:solidFill>
              </a:rPr>
              <a:t>Demo video: record with docs/demo-script.md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2834640"/>
            <a:ext cx="1188720" cy="1188720"/>
          </a:xfrm>
          <a:prstGeom prst="ellipse">
            <a:avLst/>
          </a:prstGeom>
          <a:solidFill>
            <a:srgbClr val="E8BA53"/>
          </a:solidFill>
          <a:ln w="12700">
            <a:solidFill>
              <a:srgbClr val="E8BA5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17736" y="2944368"/>
            <a:ext cx="841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48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549640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A53"/>
                </a:solidFill>
              </a:rPr>
              <a:t>Start small. Share openly.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SparkLocal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SparkLocal</dc:title>
  <dc:subject>Hackathon submission: open-weight Gemma for community-led action</dc:subject>
  <dc:creator>SparkLocal contributors</dc:creator>
  <cp:lastModifiedBy>SparkLocal contributors</cp:lastModifiedBy>
  <cp:revision>1</cp:revision>
  <dcterms:created xsi:type="dcterms:W3CDTF">2026-10-30T05:37:30Z</dcterms:created>
  <dcterms:modified xsi:type="dcterms:W3CDTF">2026-10-30T05:37:30Z</dcterms:modified>
</cp:coreProperties>
</file>